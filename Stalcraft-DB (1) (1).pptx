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8229600" cx="14630400"/>
  <p:notesSz cx="8229600" cy="14630400"/>
  <p:embeddedFontLst>
    <p:embeddedFont>
      <p:font typeface="Lato"/>
      <p:regular r:id="rId12"/>
      <p:bold r:id="rId13"/>
      <p:italic r:id="rId14"/>
      <p:boldItalic r:id="rId15"/>
    </p:embeddedFont>
    <p:embeddedFont>
      <p:font typeface="Gelasi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Lato-bold.fntdata"/><Relationship Id="rId12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Lato-boldItalic.fntdata"/><Relationship Id="rId14" Type="http://schemas.openxmlformats.org/officeDocument/2006/relationships/font" Target="fonts/Lato-italic.fntdata"/><Relationship Id="rId17" Type="http://schemas.openxmlformats.org/officeDocument/2006/relationships/font" Target="fonts/Gelasio-bold.fntdata"/><Relationship Id="rId16" Type="http://schemas.openxmlformats.org/officeDocument/2006/relationships/font" Target="fonts/Gelasio-regular.fntdata"/><Relationship Id="rId5" Type="http://schemas.openxmlformats.org/officeDocument/2006/relationships/slide" Target="slides/slide1.xml"/><Relationship Id="rId19" Type="http://schemas.openxmlformats.org/officeDocument/2006/relationships/font" Target="fonts/Gelasio-boldItalic.fntdata"/><Relationship Id="rId6" Type="http://schemas.openxmlformats.org/officeDocument/2006/relationships/slide" Target="slides/slide2.xml"/><Relationship Id="rId18" Type="http://schemas.openxmlformats.org/officeDocument/2006/relationships/font" Target="fonts/Gelasi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/>
          <p:nvPr/>
        </p:nvSpPr>
        <p:spPr>
          <a:xfrm>
            <a:off x="6280190" y="275915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12F2B"/>
              </a:buClr>
              <a:buSzPts val="4450"/>
              <a:buFont typeface="Gelasio"/>
              <a:buNone/>
            </a:pPr>
            <a:r>
              <a:rPr b="0" i="0" lang="en-US" sz="4450" u="none" cap="none" strike="noStrike">
                <a:solidFill>
                  <a:srgbClr val="312F2B"/>
                </a:solidFill>
                <a:latin typeface="Gelasio"/>
                <a:ea typeface="Gelasio"/>
                <a:cs typeface="Gelasio"/>
                <a:sym typeface="Gelasio"/>
              </a:rPr>
              <a:t>Stalcraft DB</a:t>
            </a:r>
            <a:endParaRPr b="0" i="0" sz="4450" u="none" cap="none" strike="noStrike"/>
          </a:p>
        </p:txBody>
      </p:sp>
      <p:sp>
        <p:nvSpPr>
          <p:cNvPr id="45" name="Google Shape;45;p10"/>
          <p:cNvSpPr/>
          <p:nvPr/>
        </p:nvSpPr>
        <p:spPr>
          <a:xfrm>
            <a:off x="6280190" y="3808095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La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Интерактивная экосистема для фанатов игры</a:t>
            </a:r>
            <a:endParaRPr b="0" i="0" sz="1750" u="none" cap="none" strike="noStrike"/>
          </a:p>
        </p:txBody>
      </p:sp>
      <p:sp>
        <p:nvSpPr>
          <p:cNvPr id="46" name="Google Shape;46;p10"/>
          <p:cNvSpPr/>
          <p:nvPr/>
        </p:nvSpPr>
        <p:spPr>
          <a:xfrm>
            <a:off x="6280190" y="4426148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La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Веб-сервис для анализа бартера и управления профилем сталкера</a:t>
            </a:r>
            <a:endParaRPr b="0" i="0" sz="1750" u="none" cap="none" strike="noStrike"/>
          </a:p>
        </p:txBody>
      </p:sp>
      <p:sp>
        <p:nvSpPr>
          <p:cNvPr id="47" name="Google Shape;47;p10"/>
          <p:cNvSpPr/>
          <p:nvPr/>
        </p:nvSpPr>
        <p:spPr>
          <a:xfrm>
            <a:off x="6280190" y="5044202"/>
            <a:ext cx="1674733" cy="426244"/>
          </a:xfrm>
          <a:prstGeom prst="roundRect">
            <a:avLst>
              <a:gd fmla="val 17880" name="adj"/>
            </a:avLst>
          </a:prstGeom>
          <a:solidFill>
            <a:srgbClr val="E8E8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0"/>
          <p:cNvSpPr/>
          <p:nvPr/>
        </p:nvSpPr>
        <p:spPr>
          <a:xfrm>
            <a:off x="6314593" y="5119854"/>
            <a:ext cx="33153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Lato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АВТОР: </a:t>
            </a:r>
            <a:r>
              <a:rPr lang="en-US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Сирав Варис</a:t>
            </a:r>
            <a:endParaRPr b="0" i="0" sz="1400" u="none" cap="none" strike="noStrike"/>
          </a:p>
        </p:txBody>
      </p:sp>
      <p:pic>
        <p:nvPicPr>
          <p:cNvPr id="49" name="Google Shape;4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8599" y="7101025"/>
            <a:ext cx="1871800" cy="112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/>
          <p:nvPr/>
        </p:nvSpPr>
        <p:spPr>
          <a:xfrm>
            <a:off x="793790" y="168604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12F2B"/>
              </a:buClr>
              <a:buSzPts val="4450"/>
              <a:buFont typeface="Gelasio"/>
              <a:buNone/>
            </a:pPr>
            <a:r>
              <a:rPr b="0" i="0" lang="en-US" sz="4450" u="none" cap="none" strike="noStrike">
                <a:solidFill>
                  <a:srgbClr val="312F2B"/>
                </a:solidFill>
                <a:latin typeface="Gelasio"/>
                <a:ea typeface="Gelasio"/>
                <a:cs typeface="Gelasio"/>
                <a:sym typeface="Gelasio"/>
              </a:rPr>
              <a:t>Тезисы проекта</a:t>
            </a:r>
            <a:endParaRPr b="0" i="0" sz="4450" u="none" cap="none" strike="noStrike"/>
          </a:p>
        </p:txBody>
      </p:sp>
      <p:sp>
        <p:nvSpPr>
          <p:cNvPr id="56" name="Google Shape;56;p11"/>
          <p:cNvSpPr/>
          <p:nvPr/>
        </p:nvSpPr>
        <p:spPr>
          <a:xfrm>
            <a:off x="793790" y="2848451"/>
            <a:ext cx="453628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Gelasio"/>
                <a:ea typeface="Gelasio"/>
                <a:cs typeface="Gelasio"/>
                <a:sym typeface="Gelasio"/>
              </a:rPr>
              <a:t>01</a:t>
            </a:r>
            <a:endParaRPr b="0" i="0" sz="1750" u="none" cap="none" strike="noStrike"/>
          </a:p>
        </p:txBody>
      </p:sp>
      <p:sp>
        <p:nvSpPr>
          <p:cNvPr id="57" name="Google Shape;57;p11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/>
          <p:nvPr/>
        </p:nvSpPr>
        <p:spPr>
          <a:xfrm>
            <a:off x="793790" y="3377803"/>
            <a:ext cx="298442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Gelasio"/>
                <a:ea typeface="Gelasio"/>
                <a:cs typeface="Gelasio"/>
                <a:sym typeface="Gelasio"/>
              </a:rPr>
              <a:t>Проблема и решение</a:t>
            </a:r>
            <a:endParaRPr b="0" i="0" sz="2200" u="none" cap="none" strike="noStrike"/>
          </a:p>
        </p:txBody>
      </p:sp>
      <p:sp>
        <p:nvSpPr>
          <p:cNvPr id="59" name="Google Shape;59;p11"/>
          <p:cNvSpPr/>
          <p:nvPr/>
        </p:nvSpPr>
        <p:spPr>
          <a:xfrm>
            <a:off x="793790" y="3868222"/>
            <a:ext cx="419635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La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Сотни путей развития — сложно считать ресурсы вручную</a:t>
            </a:r>
            <a:endParaRPr b="0" i="0" sz="1750" u="none" cap="none" strike="noStrike"/>
          </a:p>
        </p:txBody>
      </p:sp>
      <p:sp>
        <p:nvSpPr>
          <p:cNvPr id="60" name="Google Shape;60;p11"/>
          <p:cNvSpPr/>
          <p:nvPr/>
        </p:nvSpPr>
        <p:spPr>
          <a:xfrm>
            <a:off x="5216962" y="2848451"/>
            <a:ext cx="453628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Gelasio"/>
                <a:ea typeface="Gelasio"/>
                <a:cs typeface="Gelasio"/>
                <a:sym typeface="Gelasio"/>
              </a:rPr>
              <a:t>02</a:t>
            </a:r>
            <a:endParaRPr b="0" i="0" sz="1750" u="none" cap="none" strike="noStrike"/>
          </a:p>
        </p:txBody>
      </p:sp>
      <p:sp>
        <p:nvSpPr>
          <p:cNvPr id="61" name="Google Shape;61;p11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1"/>
          <p:cNvSpPr/>
          <p:nvPr/>
        </p:nvSpPr>
        <p:spPr>
          <a:xfrm>
            <a:off x="5216962" y="3377803"/>
            <a:ext cx="306478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Gelasio"/>
                <a:ea typeface="Gelasio"/>
                <a:cs typeface="Gelasio"/>
                <a:sym typeface="Gelasio"/>
              </a:rPr>
              <a:t>Технологический стек</a:t>
            </a:r>
            <a:endParaRPr b="0" i="0" sz="2200" u="none" cap="none" strike="noStrike"/>
          </a:p>
        </p:txBody>
      </p:sp>
      <p:sp>
        <p:nvSpPr>
          <p:cNvPr id="63" name="Google Shape;63;p11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La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Python, Flask, SQLite, Bootstrap 5 и Jinja2</a:t>
            </a:r>
            <a:endParaRPr b="0" i="0" sz="1750" u="none" cap="none" strike="noStrike"/>
          </a:p>
        </p:txBody>
      </p:sp>
      <p:sp>
        <p:nvSpPr>
          <p:cNvPr id="64" name="Google Shape;64;p11"/>
          <p:cNvSpPr/>
          <p:nvPr/>
        </p:nvSpPr>
        <p:spPr>
          <a:xfrm>
            <a:off x="9640133" y="2848451"/>
            <a:ext cx="453628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Gelasio"/>
                <a:ea typeface="Gelasio"/>
                <a:cs typeface="Gelasio"/>
                <a:sym typeface="Gelasio"/>
              </a:rPr>
              <a:t>03</a:t>
            </a:r>
            <a:endParaRPr b="0" i="0" sz="1750" u="none" cap="none" strike="noStrike"/>
          </a:p>
        </p:txBody>
      </p:sp>
      <p:sp>
        <p:nvSpPr>
          <p:cNvPr id="65" name="Google Shape;65;p11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1"/>
          <p:cNvSpPr/>
          <p:nvPr/>
        </p:nvSpPr>
        <p:spPr>
          <a:xfrm>
            <a:off x="9640133" y="3377803"/>
            <a:ext cx="336470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Gelasio"/>
                <a:ea typeface="Gelasio"/>
                <a:cs typeface="Gelasio"/>
                <a:sym typeface="Gelasio"/>
              </a:rPr>
              <a:t>Ключевые возможности</a:t>
            </a:r>
            <a:endParaRPr b="0" i="0" sz="2200" u="none" cap="none" strike="noStrike"/>
          </a:p>
        </p:txBody>
      </p:sp>
      <p:sp>
        <p:nvSpPr>
          <p:cNvPr id="67" name="Google Shape;67;p11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La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Дерево бартера, личный кабинет, инфо-карточки</a:t>
            </a:r>
            <a:endParaRPr b="0" i="0" sz="1750" u="none" cap="none" strike="noStrike"/>
          </a:p>
        </p:txBody>
      </p:sp>
      <p:sp>
        <p:nvSpPr>
          <p:cNvPr id="68" name="Google Shape;68;p11"/>
          <p:cNvSpPr/>
          <p:nvPr/>
        </p:nvSpPr>
        <p:spPr>
          <a:xfrm>
            <a:off x="793790" y="4990862"/>
            <a:ext cx="453628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Gelasio"/>
                <a:ea typeface="Gelasio"/>
                <a:cs typeface="Gelasio"/>
                <a:sym typeface="Gelasio"/>
              </a:rPr>
              <a:t>04</a:t>
            </a:r>
            <a:endParaRPr b="0" i="0" sz="1750" u="none" cap="none" strike="noStrike"/>
          </a:p>
        </p:txBody>
      </p:sp>
      <p:sp>
        <p:nvSpPr>
          <p:cNvPr id="69" name="Google Shape;69;p11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1"/>
          <p:cNvSpPr/>
          <p:nvPr/>
        </p:nvSpPr>
        <p:spPr>
          <a:xfrm>
            <a:off x="793790" y="5520214"/>
            <a:ext cx="283940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Gelasio"/>
                <a:ea typeface="Gelasio"/>
                <a:cs typeface="Gelasio"/>
                <a:sym typeface="Gelasio"/>
              </a:rPr>
              <a:t>Архитектура данных</a:t>
            </a:r>
            <a:endParaRPr b="0" i="0" sz="2200" u="none" cap="none" strike="noStrike"/>
          </a:p>
        </p:txBody>
      </p:sp>
      <p:sp>
        <p:nvSpPr>
          <p:cNvPr id="71" name="Google Shape;71;p11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La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ORM-модели, масштабируемость, автозаполнение</a:t>
            </a:r>
            <a:endParaRPr b="0" i="0" sz="1750" u="none" cap="none" strike="noStrike"/>
          </a:p>
        </p:txBody>
      </p:sp>
      <p:sp>
        <p:nvSpPr>
          <p:cNvPr id="72" name="Google Shape;72;p11"/>
          <p:cNvSpPr/>
          <p:nvPr/>
        </p:nvSpPr>
        <p:spPr>
          <a:xfrm>
            <a:off x="7428548" y="4990862"/>
            <a:ext cx="453628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Gelasio"/>
                <a:ea typeface="Gelasio"/>
                <a:cs typeface="Gelasio"/>
                <a:sym typeface="Gelasio"/>
              </a:rPr>
              <a:t>05</a:t>
            </a:r>
            <a:endParaRPr b="0" i="0" sz="1750" u="none" cap="none" strike="noStrike"/>
          </a:p>
        </p:txBody>
      </p:sp>
      <p:sp>
        <p:nvSpPr>
          <p:cNvPr id="73" name="Google Shape;73;p11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1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Gelasio"/>
                <a:ea typeface="Gelasio"/>
                <a:cs typeface="Gelasio"/>
                <a:sym typeface="Gelasio"/>
              </a:rPr>
              <a:t>Итоги и потенциал</a:t>
            </a:r>
            <a:endParaRPr b="0" i="0" sz="2200" u="none" cap="none" strike="noStrike"/>
          </a:p>
        </p:txBody>
      </p:sp>
      <p:sp>
        <p:nvSpPr>
          <p:cNvPr id="75" name="Google Shape;75;p11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La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Рабочий прототип и планы на API-интеграцию</a:t>
            </a:r>
            <a:endParaRPr b="0" i="0" sz="1750" u="none" cap="none" strike="noStrike"/>
          </a:p>
        </p:txBody>
      </p:sp>
      <p:pic>
        <p:nvPicPr>
          <p:cNvPr id="76" name="Google Shape;7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8599" y="7101025"/>
            <a:ext cx="1871800" cy="112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/>
          <p:nvPr/>
        </p:nvSpPr>
        <p:spPr>
          <a:xfrm>
            <a:off x="756642" y="682347"/>
            <a:ext cx="5691664" cy="67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05"/>
              </a:lnSpc>
              <a:spcBef>
                <a:spcPts val="0"/>
              </a:spcBef>
              <a:spcAft>
                <a:spcPts val="0"/>
              </a:spcAft>
              <a:buClr>
                <a:srgbClr val="312F2B"/>
              </a:buClr>
              <a:buSzPts val="4250"/>
              <a:buFont typeface="Gelasio"/>
              <a:buNone/>
            </a:pPr>
            <a:r>
              <a:rPr b="0" i="0" lang="en-US" sz="4250" u="none" cap="none" strike="noStrike">
                <a:solidFill>
                  <a:srgbClr val="312F2B"/>
                </a:solidFill>
                <a:latin typeface="Gelasio"/>
                <a:ea typeface="Gelasio"/>
                <a:cs typeface="Gelasio"/>
                <a:sym typeface="Gelasio"/>
              </a:rPr>
              <a:t>Проблема и решение</a:t>
            </a:r>
            <a:endParaRPr b="0" i="0" sz="4250" u="none" cap="none" strike="noStrike"/>
          </a:p>
        </p:txBody>
      </p:sp>
      <p:sp>
        <p:nvSpPr>
          <p:cNvPr id="83" name="Google Shape;83;p12"/>
          <p:cNvSpPr/>
          <p:nvPr/>
        </p:nvSpPr>
        <p:spPr>
          <a:xfrm>
            <a:off x="600900" y="1667120"/>
            <a:ext cx="3863100" cy="3653100"/>
          </a:xfrm>
          <a:prstGeom prst="roundRect">
            <a:avLst>
              <a:gd fmla="val 4029" name="adj"/>
            </a:avLst>
          </a:prstGeom>
          <a:solidFill>
            <a:srgbClr val="D3C1B6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2"/>
          <p:cNvSpPr/>
          <p:nvPr/>
        </p:nvSpPr>
        <p:spPr>
          <a:xfrm>
            <a:off x="817007" y="1873091"/>
            <a:ext cx="2702362" cy="337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12F2B"/>
              </a:buClr>
              <a:buSzPts val="2100"/>
              <a:buFont typeface="Gelasio"/>
              <a:buNone/>
            </a:pPr>
            <a:r>
              <a:rPr b="0" i="0" lang="en-US" sz="2100" u="none" cap="none" strike="noStrike">
                <a:solidFill>
                  <a:srgbClr val="312F2B"/>
                </a:solidFill>
                <a:latin typeface="Gelasio"/>
                <a:ea typeface="Gelasio"/>
                <a:cs typeface="Gelasio"/>
                <a:sym typeface="Gelasio"/>
              </a:rPr>
              <a:t>Проблема</a:t>
            </a:r>
            <a:endParaRPr b="0" i="0" sz="2100" u="none" cap="none" strike="noStrike"/>
          </a:p>
        </p:txBody>
      </p:sp>
      <p:sp>
        <p:nvSpPr>
          <p:cNvPr id="85" name="Google Shape;85;p12"/>
          <p:cNvSpPr/>
          <p:nvPr/>
        </p:nvSpPr>
        <p:spPr>
          <a:xfrm>
            <a:off x="817007" y="2416850"/>
            <a:ext cx="3430905" cy="2364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Lato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В игре </a:t>
            </a:r>
            <a:r>
              <a:rPr b="1" i="0" lang="en-US" sz="170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сотни путей развития</a:t>
            </a:r>
            <a:r>
              <a:rPr b="0" i="0" lang="en-US" sz="170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— игрокам крайне сложно считать ресурсы и планировать крафт «на глаз». Каждый предмет требует цепочки материалов, и без инструмента это превращается в хаос.</a:t>
            </a:r>
            <a:endParaRPr b="0" i="0" sz="1700" u="none" cap="none" strike="noStrike"/>
          </a:p>
        </p:txBody>
      </p:sp>
      <p:sp>
        <p:nvSpPr>
          <p:cNvPr id="86" name="Google Shape;86;p12"/>
          <p:cNvSpPr/>
          <p:nvPr/>
        </p:nvSpPr>
        <p:spPr>
          <a:xfrm>
            <a:off x="4843343" y="1873091"/>
            <a:ext cx="2702362" cy="337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12F2B"/>
              </a:buClr>
              <a:buSzPts val="2100"/>
              <a:buFont typeface="Gelasio"/>
              <a:buNone/>
            </a:pPr>
            <a:r>
              <a:rPr b="0" i="0" lang="en-US" sz="2100" u="none" cap="none" strike="noStrike">
                <a:solidFill>
                  <a:srgbClr val="312F2B"/>
                </a:solidFill>
                <a:latin typeface="Gelasio"/>
                <a:ea typeface="Gelasio"/>
                <a:cs typeface="Gelasio"/>
                <a:sym typeface="Gelasio"/>
              </a:rPr>
              <a:t>Решение</a:t>
            </a:r>
            <a:endParaRPr b="0" i="0" sz="2100" u="none" cap="none" strike="noStrike"/>
          </a:p>
        </p:txBody>
      </p:sp>
      <p:sp>
        <p:nvSpPr>
          <p:cNvPr id="87" name="Google Shape;87;p12"/>
          <p:cNvSpPr/>
          <p:nvPr/>
        </p:nvSpPr>
        <p:spPr>
          <a:xfrm>
            <a:off x="4843343" y="2416850"/>
            <a:ext cx="3551634" cy="168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Lato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Визуальное дерево бартера</a:t>
            </a:r>
            <a:r>
              <a:rPr b="0" i="0" lang="en-US" sz="170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с мгновенным расчётом стоимости и материалов. Всё в одном месте и под рукой — никаких таблиц, никакого ручного счёта.</a:t>
            </a:r>
            <a:endParaRPr b="0" i="0" sz="1700" u="none" cap="none" strike="noStrike"/>
          </a:p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8599" y="7101025"/>
            <a:ext cx="1871800" cy="112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/>
          <p:nvPr/>
        </p:nvSpPr>
        <p:spPr>
          <a:xfrm>
            <a:off x="706993" y="622340"/>
            <a:ext cx="5461278" cy="631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312F2B"/>
              </a:buClr>
              <a:buSzPts val="3950"/>
              <a:buFont typeface="Gelasio"/>
              <a:buNone/>
            </a:pPr>
            <a:r>
              <a:rPr b="0" i="0" lang="en-US" sz="3950" u="none" cap="none" strike="noStrike">
                <a:solidFill>
                  <a:srgbClr val="312F2B"/>
                </a:solidFill>
                <a:latin typeface="Gelasio"/>
                <a:ea typeface="Gelasio"/>
                <a:cs typeface="Gelasio"/>
                <a:sym typeface="Gelasio"/>
              </a:rPr>
              <a:t>Технологический стек</a:t>
            </a:r>
            <a:endParaRPr b="0" i="0" sz="3950" u="none" cap="none" strike="noStrike"/>
          </a:p>
        </p:txBody>
      </p:sp>
      <p:sp>
        <p:nvSpPr>
          <p:cNvPr id="95" name="Google Shape;95;p13"/>
          <p:cNvSpPr/>
          <p:nvPr/>
        </p:nvSpPr>
        <p:spPr>
          <a:xfrm>
            <a:off x="706993" y="1613416"/>
            <a:ext cx="13216414" cy="305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Lato"/>
              <a:buNone/>
            </a:pPr>
            <a:r>
              <a:rPr b="0" i="0" lang="en-US" sz="155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Тот самый «жир» — надёжные и проверенные технологии для быстрой разработки</a:t>
            </a:r>
            <a:endParaRPr b="0" i="0" sz="1550" u="none" cap="none" strike="noStrike"/>
          </a:p>
        </p:txBody>
      </p:sp>
      <p:sp>
        <p:nvSpPr>
          <p:cNvPr id="96" name="Google Shape;96;p13"/>
          <p:cNvSpPr/>
          <p:nvPr/>
        </p:nvSpPr>
        <p:spPr>
          <a:xfrm>
            <a:off x="706993" y="2121337"/>
            <a:ext cx="6518196" cy="2652951"/>
          </a:xfrm>
          <a:prstGeom prst="roundRect">
            <a:avLst>
              <a:gd fmla="val 3198" name="adj"/>
            </a:avLst>
          </a:prstGeom>
          <a:solidFill>
            <a:srgbClr val="E8E8E3"/>
          </a:solidFill>
          <a:ln cap="flat" cmpd="sng" w="9525">
            <a:solidFill>
              <a:srgbClr val="CEC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916543" y="2330887"/>
            <a:ext cx="606028" cy="606028"/>
          </a:xfrm>
          <a:prstGeom prst="roundRect">
            <a:avLst>
              <a:gd fmla="val 15086903" name="adj"/>
            </a:avLst>
          </a:prstGeom>
          <a:solidFill>
            <a:srgbClr val="E5E5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916543" y="3116818"/>
            <a:ext cx="2525197" cy="31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Gelasio"/>
              <a:buNone/>
            </a:pPr>
            <a:r>
              <a:rPr b="0" i="0" lang="en-US" sz="1950" u="none" cap="none" strike="noStrike">
                <a:solidFill>
                  <a:srgbClr val="272525"/>
                </a:solidFill>
                <a:latin typeface="Gelasio"/>
                <a:ea typeface="Gelasio"/>
                <a:cs typeface="Gelasio"/>
                <a:sym typeface="Gelasio"/>
              </a:rPr>
              <a:t>Backend</a:t>
            </a:r>
            <a:endParaRPr b="0" i="0" sz="1950" u="none" cap="none" strike="noStrike"/>
          </a:p>
        </p:txBody>
      </p:sp>
      <p:sp>
        <p:nvSpPr>
          <p:cNvPr id="99" name="Google Shape;99;p13"/>
          <p:cNvSpPr/>
          <p:nvPr/>
        </p:nvSpPr>
        <p:spPr>
          <a:xfrm>
            <a:off x="916543" y="3540323"/>
            <a:ext cx="6099096" cy="305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Lato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Python + Flask</a:t>
            </a:r>
            <a:endParaRPr b="0" i="0" sz="1550" u="none" cap="none" strike="noStrike"/>
          </a:p>
        </p:txBody>
      </p:sp>
      <p:sp>
        <p:nvSpPr>
          <p:cNvPr id="100" name="Google Shape;100;p13"/>
          <p:cNvSpPr/>
          <p:nvPr/>
        </p:nvSpPr>
        <p:spPr>
          <a:xfrm>
            <a:off x="916543" y="3953708"/>
            <a:ext cx="6099096" cy="611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Lato"/>
              <a:buNone/>
            </a:pPr>
            <a:r>
              <a:rPr b="0" i="0" lang="en-US" sz="155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Гибкость и скорость разработки. Лёгкий фреймворк для построения REST-логики и маршрутизации.</a:t>
            </a:r>
            <a:endParaRPr b="0" i="0" sz="1550" u="none" cap="none" strike="noStrike"/>
          </a:p>
        </p:txBody>
      </p:sp>
      <p:sp>
        <p:nvSpPr>
          <p:cNvPr id="101" name="Google Shape;101;p13"/>
          <p:cNvSpPr/>
          <p:nvPr/>
        </p:nvSpPr>
        <p:spPr>
          <a:xfrm>
            <a:off x="7405092" y="2121337"/>
            <a:ext cx="6518315" cy="2652951"/>
          </a:xfrm>
          <a:prstGeom prst="roundRect">
            <a:avLst>
              <a:gd fmla="val 3198" name="adj"/>
            </a:avLst>
          </a:prstGeom>
          <a:solidFill>
            <a:srgbClr val="E8E8E3"/>
          </a:solidFill>
          <a:ln cap="flat" cmpd="sng" w="9525">
            <a:solidFill>
              <a:srgbClr val="CEC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3"/>
          <p:cNvSpPr/>
          <p:nvPr/>
        </p:nvSpPr>
        <p:spPr>
          <a:xfrm>
            <a:off x="7614642" y="2330887"/>
            <a:ext cx="606028" cy="606028"/>
          </a:xfrm>
          <a:prstGeom prst="roundRect">
            <a:avLst>
              <a:gd fmla="val 15086903" name="adj"/>
            </a:avLst>
          </a:prstGeom>
          <a:solidFill>
            <a:srgbClr val="E5E5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3"/>
          <p:cNvSpPr/>
          <p:nvPr/>
        </p:nvSpPr>
        <p:spPr>
          <a:xfrm>
            <a:off x="7614642" y="3116818"/>
            <a:ext cx="2525197" cy="31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Gelasio"/>
              <a:buNone/>
            </a:pPr>
            <a:r>
              <a:rPr b="0" i="0" lang="en-US" sz="1950" u="none" cap="none" strike="noStrike">
                <a:solidFill>
                  <a:srgbClr val="272525"/>
                </a:solidFill>
                <a:latin typeface="Gelasio"/>
                <a:ea typeface="Gelasio"/>
                <a:cs typeface="Gelasio"/>
                <a:sym typeface="Gelasio"/>
              </a:rPr>
              <a:t>Database</a:t>
            </a:r>
            <a:endParaRPr b="0" i="0" sz="1950" u="none" cap="none" strike="noStrike"/>
          </a:p>
        </p:txBody>
      </p:sp>
      <p:sp>
        <p:nvSpPr>
          <p:cNvPr id="104" name="Google Shape;104;p13"/>
          <p:cNvSpPr/>
          <p:nvPr/>
        </p:nvSpPr>
        <p:spPr>
          <a:xfrm>
            <a:off x="7614642" y="3540323"/>
            <a:ext cx="6099215" cy="305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Lato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SQLite + SQLAlchemy</a:t>
            </a:r>
            <a:endParaRPr b="0" i="0" sz="1550" u="none" cap="none" strike="noStrike"/>
          </a:p>
        </p:txBody>
      </p:sp>
      <p:sp>
        <p:nvSpPr>
          <p:cNvPr id="105" name="Google Shape;105;p13"/>
          <p:cNvSpPr/>
          <p:nvPr/>
        </p:nvSpPr>
        <p:spPr>
          <a:xfrm>
            <a:off x="7614642" y="3953708"/>
            <a:ext cx="6099215" cy="611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Lato"/>
              <a:buNone/>
            </a:pPr>
            <a:r>
              <a:rPr b="0" i="0" lang="en-US" sz="155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Надёжное хранение данных через ORM. Простое развёртывание без внешних зависимостей.</a:t>
            </a:r>
            <a:endParaRPr b="0" i="0" sz="1550" u="none" cap="none" strike="noStrike"/>
          </a:p>
        </p:txBody>
      </p:sp>
      <p:sp>
        <p:nvSpPr>
          <p:cNvPr id="106" name="Google Shape;106;p13"/>
          <p:cNvSpPr/>
          <p:nvPr/>
        </p:nvSpPr>
        <p:spPr>
          <a:xfrm>
            <a:off x="706993" y="4954191"/>
            <a:ext cx="6518196" cy="2652951"/>
          </a:xfrm>
          <a:prstGeom prst="roundRect">
            <a:avLst>
              <a:gd fmla="val 3198" name="adj"/>
            </a:avLst>
          </a:prstGeom>
          <a:solidFill>
            <a:srgbClr val="E8E8E3"/>
          </a:solidFill>
          <a:ln cap="flat" cmpd="sng" w="9525">
            <a:solidFill>
              <a:srgbClr val="CEC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3"/>
          <p:cNvSpPr/>
          <p:nvPr/>
        </p:nvSpPr>
        <p:spPr>
          <a:xfrm>
            <a:off x="916543" y="5163741"/>
            <a:ext cx="606028" cy="606028"/>
          </a:xfrm>
          <a:prstGeom prst="roundRect">
            <a:avLst>
              <a:gd fmla="val 15086903" name="adj"/>
            </a:avLst>
          </a:prstGeom>
          <a:solidFill>
            <a:srgbClr val="E5E5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3"/>
          <p:cNvSpPr/>
          <p:nvPr/>
        </p:nvSpPr>
        <p:spPr>
          <a:xfrm>
            <a:off x="916543" y="5949672"/>
            <a:ext cx="2525197" cy="31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Gelasio"/>
              <a:buNone/>
            </a:pPr>
            <a:r>
              <a:rPr b="0" i="0" lang="en-US" sz="1950" u="none" cap="none" strike="noStrike">
                <a:solidFill>
                  <a:srgbClr val="272525"/>
                </a:solidFill>
                <a:latin typeface="Gelasio"/>
                <a:ea typeface="Gelasio"/>
                <a:cs typeface="Gelasio"/>
                <a:sym typeface="Gelasio"/>
              </a:rPr>
              <a:t>Frontend</a:t>
            </a:r>
            <a:endParaRPr b="0" i="0" sz="1950" u="none" cap="none" strike="noStrike"/>
          </a:p>
        </p:txBody>
      </p:sp>
      <p:sp>
        <p:nvSpPr>
          <p:cNvPr id="109" name="Google Shape;109;p13"/>
          <p:cNvSpPr/>
          <p:nvPr/>
        </p:nvSpPr>
        <p:spPr>
          <a:xfrm>
            <a:off x="916543" y="6373178"/>
            <a:ext cx="6099096" cy="305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Lato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Bootstrap 5 + Jinja2</a:t>
            </a:r>
            <a:endParaRPr b="0" i="0" sz="1550" u="none" cap="none" strike="noStrike"/>
          </a:p>
        </p:txBody>
      </p:sp>
      <p:sp>
        <p:nvSpPr>
          <p:cNvPr id="110" name="Google Shape;110;p13"/>
          <p:cNvSpPr/>
          <p:nvPr/>
        </p:nvSpPr>
        <p:spPr>
          <a:xfrm>
            <a:off x="916543" y="6786562"/>
            <a:ext cx="6099096" cy="611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Lato"/>
              <a:buNone/>
            </a:pPr>
            <a:r>
              <a:rPr b="0" i="0" lang="en-US" sz="155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Адаптивный дизайн и динамическая генерация страниц прямо на сервере.</a:t>
            </a:r>
            <a:endParaRPr b="0" i="0" sz="1550" u="none" cap="none" strike="noStrike"/>
          </a:p>
        </p:txBody>
      </p:sp>
      <p:sp>
        <p:nvSpPr>
          <p:cNvPr id="111" name="Google Shape;111;p13"/>
          <p:cNvSpPr/>
          <p:nvPr/>
        </p:nvSpPr>
        <p:spPr>
          <a:xfrm>
            <a:off x="7405092" y="4954191"/>
            <a:ext cx="6518315" cy="2652951"/>
          </a:xfrm>
          <a:prstGeom prst="roundRect">
            <a:avLst>
              <a:gd fmla="val 3198" name="adj"/>
            </a:avLst>
          </a:prstGeom>
          <a:solidFill>
            <a:srgbClr val="E8E8E3"/>
          </a:solidFill>
          <a:ln cap="flat" cmpd="sng" w="9525">
            <a:solidFill>
              <a:srgbClr val="CEC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3"/>
          <p:cNvSpPr/>
          <p:nvPr/>
        </p:nvSpPr>
        <p:spPr>
          <a:xfrm>
            <a:off x="7614642" y="5163741"/>
            <a:ext cx="606028" cy="606028"/>
          </a:xfrm>
          <a:prstGeom prst="roundRect">
            <a:avLst>
              <a:gd fmla="val 15086903" name="adj"/>
            </a:avLst>
          </a:prstGeom>
          <a:solidFill>
            <a:srgbClr val="E5E5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3"/>
          <p:cNvSpPr/>
          <p:nvPr/>
        </p:nvSpPr>
        <p:spPr>
          <a:xfrm>
            <a:off x="7614642" y="5949672"/>
            <a:ext cx="2525197" cy="31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Gelasio"/>
              <a:buNone/>
            </a:pPr>
            <a:r>
              <a:rPr b="0" i="0" lang="en-US" sz="1950" u="none" cap="none" strike="noStrike">
                <a:solidFill>
                  <a:srgbClr val="272525"/>
                </a:solidFill>
                <a:latin typeface="Gelasio"/>
                <a:ea typeface="Gelasio"/>
                <a:cs typeface="Gelasio"/>
                <a:sym typeface="Gelasio"/>
              </a:rPr>
              <a:t>Security</a:t>
            </a:r>
            <a:endParaRPr b="0" i="0" sz="1950" u="none" cap="none" strike="noStrike"/>
          </a:p>
        </p:txBody>
      </p:sp>
      <p:sp>
        <p:nvSpPr>
          <p:cNvPr id="114" name="Google Shape;114;p13"/>
          <p:cNvSpPr/>
          <p:nvPr/>
        </p:nvSpPr>
        <p:spPr>
          <a:xfrm>
            <a:off x="7614642" y="6373178"/>
            <a:ext cx="6099215" cy="305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Lato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Хэширование </a:t>
            </a:r>
            <a:endParaRPr b="1" sz="1550">
              <a:solidFill>
                <a:srgbClr val="27252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Lato"/>
              <a:buNone/>
            </a:pPr>
            <a:r>
              <a:t/>
            </a:r>
            <a:endParaRPr b="1" sz="1550">
              <a:solidFill>
                <a:srgbClr val="27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7614642" y="6786562"/>
            <a:ext cx="6099215" cy="611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Lato"/>
              <a:buNone/>
            </a:pPr>
            <a:r>
              <a:rPr b="0" i="0" lang="en-US" sz="155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Безопасное хранение паролей</a:t>
            </a:r>
            <a:r>
              <a:rPr lang="en-US" sz="155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550" u="none" cap="none" strike="noStrike"/>
          </a:p>
        </p:txBody>
      </p:sp>
      <p:pic>
        <p:nvPicPr>
          <p:cNvPr id="116" name="Google Shape;11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72600" y="7559500"/>
            <a:ext cx="1957800" cy="60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"/>
          <p:cNvSpPr/>
          <p:nvPr/>
        </p:nvSpPr>
        <p:spPr>
          <a:xfrm>
            <a:off x="4212133" y="674272"/>
            <a:ext cx="62061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312F2B"/>
              </a:buClr>
              <a:buSzPts val="4100"/>
              <a:buFont typeface="Gelasio"/>
              <a:buNone/>
            </a:pPr>
            <a:r>
              <a:rPr b="0" i="0" lang="en-US" sz="4100" u="none" cap="none" strike="noStrike">
                <a:solidFill>
                  <a:srgbClr val="312F2B"/>
                </a:solidFill>
                <a:latin typeface="Gelasio"/>
                <a:ea typeface="Gelasio"/>
                <a:cs typeface="Gelasio"/>
                <a:sym typeface="Gelasio"/>
              </a:rPr>
              <a:t>Ключевые возможности</a:t>
            </a:r>
            <a:endParaRPr b="0" i="0" sz="4100" u="none" cap="none" strike="noStrike"/>
          </a:p>
        </p:txBody>
      </p:sp>
      <p:sp>
        <p:nvSpPr>
          <p:cNvPr id="123" name="Google Shape;123;p14"/>
          <p:cNvSpPr/>
          <p:nvPr/>
        </p:nvSpPr>
        <p:spPr>
          <a:xfrm>
            <a:off x="3486358" y="1453396"/>
            <a:ext cx="7680600" cy="1885500"/>
          </a:xfrm>
          <a:prstGeom prst="roundRect">
            <a:avLst>
              <a:gd fmla="val 5820" name="adj"/>
            </a:avLst>
          </a:prstGeom>
          <a:solidFill>
            <a:srgbClr val="FFFFFF">
              <a:alpha val="94901"/>
            </a:srgbClr>
          </a:solidFill>
          <a:ln cap="flat" cmpd="sng" w="22850">
            <a:solidFill>
              <a:srgbClr val="CEC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4"/>
          <p:cNvSpPr/>
          <p:nvPr/>
        </p:nvSpPr>
        <p:spPr>
          <a:xfrm>
            <a:off x="3463498" y="1453396"/>
            <a:ext cx="91500" cy="1885500"/>
          </a:xfrm>
          <a:prstGeom prst="roundRect">
            <a:avLst>
              <a:gd fmla="val 96046" name="adj"/>
            </a:avLst>
          </a:prstGeom>
          <a:solidFill>
            <a:srgbClr val="E5E5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3786872" y="1685329"/>
            <a:ext cx="43440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Gelasio"/>
              <a:buNone/>
            </a:pPr>
            <a:r>
              <a:rPr b="0" i="0" lang="en-US" sz="2050" u="none" cap="none" strike="noStrike">
                <a:solidFill>
                  <a:srgbClr val="272525"/>
                </a:solidFill>
                <a:latin typeface="Gelasio"/>
                <a:ea typeface="Gelasio"/>
                <a:cs typeface="Gelasio"/>
                <a:sym typeface="Gelasio"/>
              </a:rPr>
              <a:t> Динамическое дерево бартера</a:t>
            </a:r>
            <a:endParaRPr b="0" i="0" sz="2050" u="none" cap="none" strike="noStrike"/>
          </a:p>
        </p:txBody>
      </p:sp>
      <p:sp>
        <p:nvSpPr>
          <p:cNvPr id="126" name="Google Shape;126;p14"/>
          <p:cNvSpPr/>
          <p:nvPr/>
        </p:nvSpPr>
        <p:spPr>
          <a:xfrm>
            <a:off x="3786872" y="2142767"/>
            <a:ext cx="7148100" cy="9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Lato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Связи между предметами </a:t>
            </a:r>
            <a:r>
              <a:rPr b="1" i="0" lang="en-US" sz="160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отрисовываются автоматически</a:t>
            </a:r>
            <a:r>
              <a:rPr b="0" i="0" lang="en-US" sz="160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на основе данных из базы. Пользователь видит полную цепочку зависимостей одним взглядом — без ручного построения схем.</a:t>
            </a:r>
            <a:endParaRPr b="0" i="0" sz="1600" u="none" cap="none" strike="noStrike"/>
          </a:p>
        </p:txBody>
      </p:sp>
      <p:sp>
        <p:nvSpPr>
          <p:cNvPr id="127" name="Google Shape;127;p14"/>
          <p:cNvSpPr/>
          <p:nvPr/>
        </p:nvSpPr>
        <p:spPr>
          <a:xfrm>
            <a:off x="3486358" y="3531513"/>
            <a:ext cx="7680600" cy="1885500"/>
          </a:xfrm>
          <a:prstGeom prst="roundRect">
            <a:avLst>
              <a:gd fmla="val 5820" name="adj"/>
            </a:avLst>
          </a:prstGeom>
          <a:solidFill>
            <a:srgbClr val="FFFFFF">
              <a:alpha val="94901"/>
            </a:srgbClr>
          </a:solidFill>
          <a:ln cap="flat" cmpd="sng" w="22850">
            <a:solidFill>
              <a:srgbClr val="CEC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4"/>
          <p:cNvSpPr/>
          <p:nvPr/>
        </p:nvSpPr>
        <p:spPr>
          <a:xfrm>
            <a:off x="3463498" y="3531513"/>
            <a:ext cx="91500" cy="1885500"/>
          </a:xfrm>
          <a:prstGeom prst="roundRect">
            <a:avLst>
              <a:gd fmla="val 96046" name="adj"/>
            </a:avLst>
          </a:prstGeom>
          <a:solidFill>
            <a:srgbClr val="E5E5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3786872" y="3763446"/>
            <a:ext cx="2613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Gelasio"/>
              <a:buNone/>
            </a:pPr>
            <a:r>
              <a:rPr b="0" i="0" lang="en-US" sz="2050" u="none" cap="none" strike="noStrike">
                <a:solidFill>
                  <a:srgbClr val="272525"/>
                </a:solidFill>
                <a:latin typeface="Gelasio"/>
                <a:ea typeface="Gelasio"/>
                <a:cs typeface="Gelasio"/>
                <a:sym typeface="Gelasio"/>
              </a:rPr>
              <a:t> Личный кабинет</a:t>
            </a:r>
            <a:endParaRPr b="0" i="0" sz="2050" u="none" cap="none" strike="noStrike"/>
          </a:p>
        </p:txBody>
      </p:sp>
      <p:sp>
        <p:nvSpPr>
          <p:cNvPr id="130" name="Google Shape;130;p14"/>
          <p:cNvSpPr/>
          <p:nvPr/>
        </p:nvSpPr>
        <p:spPr>
          <a:xfrm>
            <a:off x="3786872" y="4220884"/>
            <a:ext cx="7148100" cy="9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Lato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Полноценная </a:t>
            </a:r>
            <a:r>
              <a:rPr b="1" i="0" lang="en-US" sz="160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система авторизации</a:t>
            </a:r>
            <a:r>
              <a:rPr b="0" i="0" lang="en-US" sz="160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с возможностью кастомизации профиля. Пользователи могут загружать аватарки и персонализировать своё пространство в сервисе.</a:t>
            </a:r>
            <a:endParaRPr b="0" i="0" sz="1600" u="none" cap="none" strike="noStrike"/>
          </a:p>
        </p:txBody>
      </p:sp>
      <p:sp>
        <p:nvSpPr>
          <p:cNvPr id="131" name="Google Shape;131;p14"/>
          <p:cNvSpPr/>
          <p:nvPr/>
        </p:nvSpPr>
        <p:spPr>
          <a:xfrm>
            <a:off x="3486358" y="5609629"/>
            <a:ext cx="7680600" cy="1885500"/>
          </a:xfrm>
          <a:prstGeom prst="roundRect">
            <a:avLst>
              <a:gd fmla="val 5820" name="adj"/>
            </a:avLst>
          </a:prstGeom>
          <a:solidFill>
            <a:srgbClr val="FFFFFF">
              <a:alpha val="94901"/>
            </a:srgbClr>
          </a:solidFill>
          <a:ln cap="flat" cmpd="sng" w="22850">
            <a:solidFill>
              <a:srgbClr val="CEC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4"/>
          <p:cNvSpPr/>
          <p:nvPr/>
        </p:nvSpPr>
        <p:spPr>
          <a:xfrm>
            <a:off x="3463498" y="5609629"/>
            <a:ext cx="91500" cy="1885500"/>
          </a:xfrm>
          <a:prstGeom prst="roundRect">
            <a:avLst>
              <a:gd fmla="val 96046" name="adj"/>
            </a:avLst>
          </a:prstGeom>
          <a:solidFill>
            <a:srgbClr val="E5E5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4"/>
          <p:cNvSpPr/>
          <p:nvPr/>
        </p:nvSpPr>
        <p:spPr>
          <a:xfrm>
            <a:off x="3786872" y="5841563"/>
            <a:ext cx="38253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Gelasio"/>
              <a:buNone/>
            </a:pPr>
            <a:r>
              <a:rPr b="0" i="0" lang="en-US" sz="2050" u="none" cap="none" strike="noStrike">
                <a:solidFill>
                  <a:srgbClr val="272525"/>
                </a:solidFill>
                <a:latin typeface="Gelasio"/>
                <a:ea typeface="Gelasio"/>
                <a:cs typeface="Gelasio"/>
                <a:sym typeface="Gelasio"/>
              </a:rPr>
              <a:t>Инфо-карточки предметов</a:t>
            </a:r>
            <a:endParaRPr b="0" i="0" sz="2050" u="none" cap="none" strike="noStrike"/>
          </a:p>
        </p:txBody>
      </p:sp>
      <p:sp>
        <p:nvSpPr>
          <p:cNvPr id="134" name="Google Shape;134;p14"/>
          <p:cNvSpPr/>
          <p:nvPr/>
        </p:nvSpPr>
        <p:spPr>
          <a:xfrm>
            <a:off x="3786872" y="6299001"/>
            <a:ext cx="7148100" cy="9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Lato"/>
              <a:buNone/>
            </a:pPr>
            <a:r>
              <a:rPr b="1" i="0" lang="en-US" sz="160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Всплывающие окна</a:t>
            </a:r>
            <a:r>
              <a:rPr b="0" i="0" lang="en-US" sz="160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с детальным списком необходимых ресурсов и итоговой ценой в игровой валюте. Вся нужная информация — в один клик, без перехода на другую страницу.</a:t>
            </a:r>
            <a:endParaRPr b="0" i="0" sz="1600" u="none" cap="none" strike="noStrike"/>
          </a:p>
        </p:txBody>
      </p:sp>
      <p:pic>
        <p:nvPicPr>
          <p:cNvPr id="135" name="Google Shape;13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19275" y="7410275"/>
            <a:ext cx="1811125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/>
          <p:nvPr/>
        </p:nvSpPr>
        <p:spPr>
          <a:xfrm>
            <a:off x="682228" y="603647"/>
            <a:ext cx="4881801" cy="609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12F2B"/>
              </a:buClr>
              <a:buSzPts val="3800"/>
              <a:buFont typeface="Gelasio"/>
              <a:buNone/>
            </a:pPr>
            <a:r>
              <a:rPr b="0" i="0" lang="en-US" sz="3800" u="none" cap="none" strike="noStrike">
                <a:solidFill>
                  <a:srgbClr val="312F2B"/>
                </a:solidFill>
                <a:latin typeface="Gelasio"/>
                <a:ea typeface="Gelasio"/>
                <a:cs typeface="Gelasio"/>
                <a:sym typeface="Gelasio"/>
              </a:rPr>
              <a:t>Архитектура данных</a:t>
            </a:r>
            <a:endParaRPr b="0" i="0" sz="3800" u="none" cap="none" strike="noStrike"/>
          </a:p>
        </p:txBody>
      </p:sp>
      <p:pic>
        <p:nvPicPr>
          <p:cNvPr descr="preencoded.png" id="142" name="Google Shape;14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228" y="2690098"/>
            <a:ext cx="8456414" cy="370951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/>
          <p:nvPr/>
        </p:nvSpPr>
        <p:spPr>
          <a:xfrm>
            <a:off x="2751355" y="5350519"/>
            <a:ext cx="1830705" cy="228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312F2B"/>
              </a:buClr>
              <a:buSzPts val="1400"/>
              <a:buFont typeface="Gelasio"/>
              <a:buNone/>
            </a:pPr>
            <a:r>
              <a:rPr b="0" i="0" lang="en-US" sz="1400" u="none" cap="none" strike="noStrike">
                <a:solidFill>
                  <a:srgbClr val="312F2B"/>
                </a:solidFill>
                <a:latin typeface="Gelasio"/>
                <a:ea typeface="Gelasio"/>
                <a:cs typeface="Gelasio"/>
                <a:sym typeface="Gelasio"/>
              </a:rPr>
              <a:t>ORM‑модели</a:t>
            </a:r>
            <a:endParaRPr b="0" i="0" sz="1400" u="none" cap="none" strike="noStrike"/>
          </a:p>
        </p:txBody>
      </p:sp>
      <p:sp>
        <p:nvSpPr>
          <p:cNvPr id="144" name="Google Shape;144;p15"/>
          <p:cNvSpPr/>
          <p:nvPr/>
        </p:nvSpPr>
        <p:spPr>
          <a:xfrm>
            <a:off x="2715122" y="5644449"/>
            <a:ext cx="1903171" cy="3402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Связи предмет‑ресурс, масштабируемо</a:t>
            </a:r>
            <a:endParaRPr b="0" i="0" sz="1150" u="none" cap="none" strike="noStrike"/>
          </a:p>
        </p:txBody>
      </p:sp>
      <p:sp>
        <p:nvSpPr>
          <p:cNvPr id="145" name="Google Shape;145;p15"/>
          <p:cNvSpPr/>
          <p:nvPr/>
        </p:nvSpPr>
        <p:spPr>
          <a:xfrm>
            <a:off x="5239079" y="3071800"/>
            <a:ext cx="1830705" cy="228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312F2B"/>
              </a:buClr>
              <a:buSzPts val="1400"/>
              <a:buFont typeface="Gelasio"/>
              <a:buNone/>
            </a:pPr>
            <a:r>
              <a:rPr b="0" i="0" lang="en-US" sz="1400" u="none" cap="none" strike="noStrike">
                <a:solidFill>
                  <a:srgbClr val="312F2B"/>
                </a:solidFill>
                <a:latin typeface="Gelasio"/>
                <a:ea typeface="Gelasio"/>
                <a:cs typeface="Gelasio"/>
                <a:sym typeface="Gelasio"/>
              </a:rPr>
              <a:t>Seed‑данные</a:t>
            </a:r>
            <a:endParaRPr b="0" i="0" sz="1400" u="none" cap="none" strike="noStrike"/>
          </a:p>
        </p:txBody>
      </p:sp>
      <p:sp>
        <p:nvSpPr>
          <p:cNvPr id="146" name="Google Shape;146;p15"/>
          <p:cNvSpPr/>
          <p:nvPr/>
        </p:nvSpPr>
        <p:spPr>
          <a:xfrm>
            <a:off x="5202847" y="3365730"/>
            <a:ext cx="1903171" cy="3402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Авто‑инициализация БД при первом запуске</a:t>
            </a:r>
            <a:endParaRPr b="0" i="0" sz="1150" u="none" cap="none" strike="noStrike"/>
          </a:p>
        </p:txBody>
      </p:sp>
      <p:sp>
        <p:nvSpPr>
          <p:cNvPr id="147" name="Google Shape;147;p15"/>
          <p:cNvSpPr/>
          <p:nvPr/>
        </p:nvSpPr>
        <p:spPr>
          <a:xfrm>
            <a:off x="9621798" y="1631394"/>
            <a:ext cx="2436614" cy="304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312F2B"/>
              </a:buClr>
              <a:buSzPts val="1900"/>
              <a:buFont typeface="Gelasio"/>
              <a:buNone/>
            </a:pPr>
            <a:r>
              <a:rPr b="0" i="0" lang="en-US" sz="1900" u="none" cap="none" strike="noStrike">
                <a:solidFill>
                  <a:srgbClr val="312F2B"/>
                </a:solidFill>
                <a:latin typeface="Gelasio"/>
                <a:ea typeface="Gelasio"/>
                <a:cs typeface="Gelasio"/>
                <a:sym typeface="Gelasio"/>
              </a:rPr>
              <a:t>ORM-модели</a:t>
            </a:r>
            <a:endParaRPr b="0" i="0" sz="1900" u="none" cap="none" strike="noStrike"/>
          </a:p>
        </p:txBody>
      </p:sp>
      <p:sp>
        <p:nvSpPr>
          <p:cNvPr id="148" name="Google Shape;148;p15"/>
          <p:cNvSpPr/>
          <p:nvPr/>
        </p:nvSpPr>
        <p:spPr>
          <a:xfrm>
            <a:off x="9621798" y="2103358"/>
            <a:ext cx="4333875" cy="1739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Описаны связи </a:t>
            </a:r>
            <a:r>
              <a:rPr b="1" i="0" lang="en-US" sz="150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«предмет — ресурс»</a:t>
            </a:r>
            <a:r>
              <a:rPr b="0" i="0" lang="en-US" sz="150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, что позволяет легко масштабировать базу до тысяч единиц снаряжения. Добавление нового предмета не требует изменения логики приложения — достаточно внести запись в БД.</a:t>
            </a:r>
            <a:endParaRPr b="0" i="0" sz="1500" u="none" cap="none" strike="noStrike"/>
          </a:p>
        </p:txBody>
      </p:sp>
      <p:sp>
        <p:nvSpPr>
          <p:cNvPr id="149" name="Google Shape;149;p15"/>
          <p:cNvSpPr/>
          <p:nvPr/>
        </p:nvSpPr>
        <p:spPr>
          <a:xfrm>
            <a:off x="9621798" y="4031218"/>
            <a:ext cx="4333875" cy="1623893"/>
          </a:xfrm>
          <a:prstGeom prst="roundRect">
            <a:avLst>
              <a:gd fmla="val 5042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6703" y="4325183"/>
            <a:ext cx="243602" cy="19490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/>
          <p:nvPr/>
        </p:nvSpPr>
        <p:spPr>
          <a:xfrm>
            <a:off x="10255210" y="4247317"/>
            <a:ext cx="3505557" cy="1159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Архитектура спроектирована с расчётом на рост: новые предметы, категории и связи добавляются без рефакторинга кода.</a:t>
            </a:r>
            <a:endParaRPr b="0" i="0" sz="1500" u="none" cap="none" strike="noStrike"/>
          </a:p>
        </p:txBody>
      </p:sp>
      <p:sp>
        <p:nvSpPr>
          <p:cNvPr id="152" name="Google Shape;152;p15"/>
          <p:cNvSpPr/>
          <p:nvPr/>
        </p:nvSpPr>
        <p:spPr>
          <a:xfrm>
            <a:off x="9621798" y="5843468"/>
            <a:ext cx="3306366" cy="304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312F2B"/>
              </a:buClr>
              <a:buSzPts val="1900"/>
              <a:buFont typeface="Gelasio"/>
              <a:buNone/>
            </a:pPr>
            <a:r>
              <a:rPr b="0" i="0" lang="en-US" sz="1900" u="none" cap="none" strike="noStrike">
                <a:solidFill>
                  <a:srgbClr val="312F2B"/>
                </a:solidFill>
                <a:latin typeface="Gelasio"/>
                <a:ea typeface="Gelasio"/>
                <a:cs typeface="Gelasio"/>
                <a:sym typeface="Gelasio"/>
              </a:rPr>
              <a:t>Автозаполнение (Seed Data)</a:t>
            </a:r>
            <a:endParaRPr b="0" i="0" sz="1900" u="none" cap="none" strike="noStrike"/>
          </a:p>
        </p:txBody>
      </p:sp>
      <p:sp>
        <p:nvSpPr>
          <p:cNvPr id="153" name="Google Shape;153;p15"/>
          <p:cNvSpPr/>
          <p:nvPr/>
        </p:nvSpPr>
        <p:spPr>
          <a:xfrm>
            <a:off x="9621798" y="6315432"/>
            <a:ext cx="4333875" cy="1159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Приложение </a:t>
            </a:r>
            <a:r>
              <a:rPr b="1" i="0" lang="en-US" sz="150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само инициализирует базу данных</a:t>
            </a:r>
            <a:r>
              <a:rPr b="0" i="0" lang="en-US" sz="150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при первом запуске. Никакой ручной настройки — сервис готов к работе сразу после развёртывания.</a:t>
            </a:r>
            <a:endParaRPr b="0" i="0" sz="1500" u="none" cap="none" strike="noStrike"/>
          </a:p>
        </p:txBody>
      </p:sp>
      <p:pic>
        <p:nvPicPr>
          <p:cNvPr id="154" name="Google Shape;15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03825" y="7390600"/>
            <a:ext cx="198380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/>
          <p:nvPr/>
        </p:nvSpPr>
        <p:spPr>
          <a:xfrm>
            <a:off x="4745701" y="639482"/>
            <a:ext cx="51390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250"/>
              </a:lnSpc>
              <a:spcBef>
                <a:spcPts val="0"/>
              </a:spcBef>
              <a:spcAft>
                <a:spcPts val="0"/>
              </a:spcAft>
              <a:buClr>
                <a:srgbClr val="312F2B"/>
              </a:buClr>
              <a:buSzPts val="4000"/>
              <a:buFont typeface="Gelasio"/>
              <a:buNone/>
            </a:pPr>
            <a:r>
              <a:rPr b="0" i="0" lang="en-US" sz="4000" u="none" cap="none" strike="noStrike">
                <a:solidFill>
                  <a:srgbClr val="312F2B"/>
                </a:solidFill>
                <a:latin typeface="Gelasio"/>
                <a:ea typeface="Gelasio"/>
                <a:cs typeface="Gelasio"/>
                <a:sym typeface="Gelasio"/>
              </a:rPr>
              <a:t>Итоги и потенциал</a:t>
            </a:r>
            <a:endParaRPr b="0" i="0" sz="4000" u="none" cap="none" strike="noStrike"/>
          </a:p>
        </p:txBody>
      </p:sp>
      <p:sp>
        <p:nvSpPr>
          <p:cNvPr id="161" name="Google Shape;161;p16"/>
          <p:cNvSpPr/>
          <p:nvPr/>
        </p:nvSpPr>
        <p:spPr>
          <a:xfrm>
            <a:off x="4745689" y="1483720"/>
            <a:ext cx="3759600" cy="2755200"/>
          </a:xfrm>
          <a:prstGeom prst="roundRect">
            <a:avLst>
              <a:gd fmla="val 3134" name="adj"/>
            </a:avLst>
          </a:prstGeom>
          <a:solidFill>
            <a:srgbClr val="E8E8E3"/>
          </a:solidFill>
          <a:ln cap="flat" cmpd="sng" w="9525">
            <a:solidFill>
              <a:srgbClr val="CEC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4958811" y="1696842"/>
            <a:ext cx="2569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272525"/>
                </a:solidFill>
                <a:latin typeface="Gelasio"/>
                <a:ea typeface="Gelasio"/>
                <a:cs typeface="Gelasio"/>
                <a:sym typeface="Gelasio"/>
              </a:rPr>
              <a:t> Результат</a:t>
            </a:r>
            <a:endParaRPr b="0" i="0" sz="2000" u="none" cap="none" strike="noStrike"/>
          </a:p>
        </p:txBody>
      </p:sp>
      <p:sp>
        <p:nvSpPr>
          <p:cNvPr id="163" name="Google Shape;163;p16"/>
          <p:cNvSpPr/>
          <p:nvPr/>
        </p:nvSpPr>
        <p:spPr>
          <a:xfrm>
            <a:off x="4958811" y="2144874"/>
            <a:ext cx="3333300" cy="18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Lato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Полностью </a:t>
            </a:r>
            <a:r>
              <a:rPr b="1" i="0" lang="en-US" sz="160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рабочий прототип</a:t>
            </a:r>
            <a:r>
              <a:rPr b="0" i="0" lang="en-US" sz="1600" u="none" cap="none" strike="noStrike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базы знаний с системой пользователей, деревом бартера и инфо-карточками предметов. Проект готов к демонстрации и дальнейшему развитию.</a:t>
            </a:r>
            <a:endParaRPr b="0" i="0" sz="1600" u="none" cap="none" strike="noStrike"/>
          </a:p>
        </p:txBody>
      </p:sp>
      <p:pic>
        <p:nvPicPr>
          <p:cNvPr id="164" name="Google Shape;16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70850" y="7392525"/>
            <a:ext cx="1702225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